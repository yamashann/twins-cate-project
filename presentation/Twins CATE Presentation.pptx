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471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2C44"/>
                </a:solidFill>
              </a:defRPr>
            </a:pPr>
            <a:r>
              <a:t>The Causal Effect of Birthweight</a:t>
            </a:r>
          </a:p>
          <a:p>
            <a:pPr algn="ctr">
              <a:defRPr sz="4000" b="1">
                <a:solidFill>
                  <a:srgbClr val="1F2C44"/>
                </a:solidFill>
              </a:defRPr>
            </a:pPr>
            <a:r>
              <a:t>on Infant Mortality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555555"/>
                </a:solidFill>
              </a:defRPr>
            </a:pPr>
            <a:r>
              <a:t>Twins Dataset — ATE, CATE,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1F2C44"/>
                </a:solidFill>
              </a:defRPr>
            </a:pPr>
            <a:r>
              <a:t>Hannah Yamashita</a:t>
            </a:r>
          </a:p>
          <a:p>
            <a:pPr algn="ctr">
              <a:defRPr sz="1600">
                <a:solidFill>
                  <a:srgbClr val="555555"/>
                </a:solidFill>
              </a:defRPr>
            </a:pPr>
            <a:r>
              <a:t>Causal Models in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C44"/>
                </a:solidFill>
              </a:defRPr>
            </a:pPr>
            <a: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2000">
                <a:solidFill>
                  <a:srgbClr val="1F2C44"/>
                </a:solidFill>
              </a:defRPr>
            </a:pPr>
            <a:r>
              <a:t>•  Low birthweight is a strong predictor of infant mortality</a:t>
            </a:r>
          </a:p>
          <a:p>
            <a:pPr>
              <a:lnSpc>
                <a:spcPct val="135000"/>
              </a:lnSpc>
              <a:defRPr sz="2000">
                <a:solidFill>
                  <a:srgbClr val="1F2C44"/>
                </a:solidFill>
              </a:defRPr>
            </a:pPr>
            <a:r>
              <a:t>•  But predictors aren't necessarily causes</a:t>
            </a:r>
          </a:p>
          <a:p>
            <a:pPr>
              <a:lnSpc>
                <a:spcPct val="135000"/>
              </a:lnSpc>
              <a:defRPr sz="1800">
                <a:solidFill>
                  <a:srgbClr val="555555"/>
                </a:solidFill>
              </a:defRPr>
            </a:pPr>
            <a:r>
              <a:t>      –  Maternal conditions (diabetes, hypertension, smoking) drive both</a:t>
            </a:r>
          </a:p>
          <a:p>
            <a:pPr>
              <a:lnSpc>
                <a:spcPct val="135000"/>
              </a:lnSpc>
              <a:defRPr sz="1800">
                <a:solidFill>
                  <a:srgbClr val="555555"/>
                </a:solidFill>
              </a:defRPr>
            </a:pPr>
            <a:r>
              <a:t>      –  → the observed association could be mostly confounding</a:t>
            </a:r>
          </a:p>
          <a:p>
            <a:pPr>
              <a:lnSpc>
                <a:spcPct val="135000"/>
              </a:lnSpc>
              <a:defRPr sz="2000">
                <a:solidFill>
                  <a:srgbClr val="1F2C44"/>
                </a:solidFill>
              </a:defRPr>
            </a:pPr>
            <a:r>
              <a:t>•  </a:t>
            </a:r>
          </a:p>
          <a:p>
            <a:pPr>
              <a:lnSpc>
                <a:spcPct val="135000"/>
              </a:lnSpc>
              <a:defRPr sz="2000">
                <a:solidFill>
                  <a:srgbClr val="1F2C44"/>
                </a:solidFill>
              </a:defRPr>
            </a:pPr>
            <a:r>
              <a:t>•  Why it matters for policy:</a:t>
            </a:r>
          </a:p>
          <a:p>
            <a:pPr>
              <a:lnSpc>
                <a:spcPct val="135000"/>
              </a:lnSpc>
              <a:defRPr sz="1800">
                <a:solidFill>
                  <a:srgbClr val="555555"/>
                </a:solidFill>
              </a:defRPr>
            </a:pPr>
            <a:r>
              <a:t>      –  If causal → improving fetal growth could reduce mortality</a:t>
            </a:r>
          </a:p>
          <a:p>
            <a:pPr>
              <a:lnSpc>
                <a:spcPct val="135000"/>
              </a:lnSpc>
              <a:defRPr sz="1800">
                <a:solidFill>
                  <a:srgbClr val="555555"/>
                </a:solidFill>
              </a:defRPr>
            </a:pPr>
            <a:r>
              <a:t>      –  If confounded → resources better spent on maternal conditions</a:t>
            </a:r>
          </a:p>
          <a:p>
            <a:pPr>
              <a:lnSpc>
                <a:spcPct val="135000"/>
              </a:lnSpc>
              <a:defRPr sz="2000">
                <a:solidFill>
                  <a:srgbClr val="1F2C44"/>
                </a:solidFill>
              </a:defRPr>
            </a:pPr>
            <a:r>
              <a:t>•  </a:t>
            </a:r>
          </a:p>
          <a:p>
            <a:pPr>
              <a:lnSpc>
                <a:spcPct val="135000"/>
              </a:lnSpc>
              <a:defRPr sz="2000" b="1">
                <a:solidFill>
                  <a:srgbClr val="C0392B"/>
                </a:solidFill>
              </a:defRPr>
            </a:pPr>
            <a:r>
              <a:t>•  My question: what's the causal effect of being the heavier twin on one-year mortality?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C44"/>
                </a:solidFill>
              </a:defRPr>
            </a:pPr>
            <a:r>
              <a:t>The Twins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800">
                <a:solidFill>
                  <a:srgbClr val="1F2C44"/>
                </a:solidFill>
              </a:defRPr>
            </a:pPr>
            <a:r>
              <a:t>•  Source: Louizos et al. (2017), preprocessed from CEVAE</a:t>
            </a:r>
          </a:p>
          <a:p>
            <a:pPr>
              <a:lnSpc>
                <a:spcPct val="135000"/>
              </a:lnSpc>
              <a:defRPr sz="1800">
                <a:solidFill>
                  <a:srgbClr val="1F2C44"/>
                </a:solidFill>
              </a:defRPr>
            </a:pPr>
            <a:r>
              <a:t>•  11,984 same-sex twin pairs, both infants under 2 kg</a:t>
            </a:r>
          </a:p>
          <a:p>
            <a:pPr>
              <a:lnSpc>
                <a:spcPct val="135000"/>
              </a:lnSpc>
              <a:defRPr sz="1800">
                <a:solidFill>
                  <a:srgbClr val="1F2C44"/>
                </a:solidFill>
              </a:defRPr>
            </a:pPr>
            <a:r>
              <a:t>•  Treatment T: heavier twin (1 = heavier)</a:t>
            </a:r>
          </a:p>
          <a:p>
            <a:pPr>
              <a:lnSpc>
                <a:spcPct val="135000"/>
              </a:lnSpc>
              <a:defRPr sz="1800">
                <a:solidFill>
                  <a:srgbClr val="1F2C44"/>
                </a:solidFill>
              </a:defRPr>
            </a:pPr>
            <a:r>
              <a:t>•  Outcome Y: one-year mortality (P(Y=1) = 0.18)</a:t>
            </a:r>
          </a:p>
          <a:p>
            <a:pPr>
              <a:lnSpc>
                <a:spcPct val="135000"/>
              </a:lnSpc>
              <a:defRPr sz="1800">
                <a:solidFill>
                  <a:srgbClr val="1F2C44"/>
                </a:solidFill>
              </a:defRPr>
            </a:pPr>
            <a:r>
              <a:t>•  Covariates X: 50 maternal / pregnancy characteristics</a:t>
            </a:r>
          </a:p>
          <a:p>
            <a:pPr>
              <a:lnSpc>
                <a:spcPct val="135000"/>
              </a:lnSpc>
              <a:defRPr sz="1600">
                <a:solidFill>
                  <a:srgbClr val="555555"/>
                </a:solidFill>
              </a:defRPr>
            </a:pPr>
            <a:r>
              <a:t>      –  Pregnancy: gestational age, prenatal visits, parity</a:t>
            </a:r>
          </a:p>
          <a:p>
            <a:pPr>
              <a:lnSpc>
                <a:spcPct val="135000"/>
              </a:lnSpc>
              <a:defRPr sz="1600">
                <a:solidFill>
                  <a:srgbClr val="555555"/>
                </a:solidFill>
              </a:defRPr>
            </a:pPr>
            <a:r>
              <a:t>      –  Maternal demographics: age, education, race</a:t>
            </a:r>
          </a:p>
          <a:p>
            <a:pPr>
              <a:lnSpc>
                <a:spcPct val="135000"/>
              </a:lnSpc>
              <a:defRPr sz="1600">
                <a:solidFill>
                  <a:srgbClr val="555555"/>
                </a:solidFill>
              </a:defRPr>
            </a:pPr>
            <a:r>
              <a:t>      –  Risk indicators: diabetes, hypertension, anemia</a:t>
            </a:r>
          </a:p>
          <a:p>
            <a:pPr>
              <a:lnSpc>
                <a:spcPct val="135000"/>
              </a:lnSpc>
              <a:defRPr sz="1600">
                <a:solidFill>
                  <a:srgbClr val="555555"/>
                </a:solidFill>
              </a:defRPr>
            </a:pPr>
            <a:r>
              <a:t>      –  Administrative: state, birth month, year</a:t>
            </a:r>
          </a:p>
          <a:p>
            <a:pPr>
              <a:lnSpc>
                <a:spcPct val="135000"/>
              </a:lnSpc>
              <a:defRPr sz="1800">
                <a:solidFill>
                  <a:srgbClr val="1F2C44"/>
                </a:solidFill>
              </a:defRPr>
            </a:pPr>
            <a:r>
              <a:t>•  </a:t>
            </a:r>
          </a:p>
          <a:p>
            <a:pPr>
              <a:lnSpc>
                <a:spcPct val="135000"/>
              </a:lnSpc>
              <a:defRPr sz="1800" b="1">
                <a:solidFill>
                  <a:srgbClr val="C0392B"/>
                </a:solidFill>
              </a:defRPr>
            </a:pPr>
            <a:r>
              <a:t>•  Why Twins is special: both potential outcomes observed → design-based ground truth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C44"/>
                </a:solidFill>
              </a:defRPr>
            </a:pPr>
            <a:r>
              <a:t>Setting Up the Observational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2000">
                <a:solidFill>
                  <a:srgbClr val="1F2C44"/>
                </a:solidFill>
              </a:defRPr>
            </a:pPr>
            <a:r>
              <a:t>•  Both potential outcomes observed → ATE trivially identified</a:t>
            </a:r>
          </a:p>
          <a:p>
            <a:pPr>
              <a:lnSpc>
                <a:spcPct val="135000"/>
              </a:lnSpc>
              <a:defRPr sz="2000">
                <a:solidFill>
                  <a:srgbClr val="1F2C44"/>
                </a:solidFill>
              </a:defRPr>
            </a:pPr>
            <a:r>
              <a:t>•  To mimic a real observational study, I simulate confounded assignment: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F2C44"/>
                </a:solidFill>
                <a:latin typeface="Consolas"/>
              </a:defRPr>
            </a:pPr>
            <a:r>
              <a:t>p_i = sigmoid(z_i^T w + n_i),    T_i ~ Bernoulli(p_i)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800">
                <a:solidFill>
                  <a:srgbClr val="1F2C44"/>
                </a:solidFill>
              </a:defRPr>
            </a:pPr>
            <a:r>
              <a:t>•  Randomly select one twin per pair as 'treated'</a:t>
            </a:r>
          </a:p>
          <a:p>
            <a:pPr>
              <a:lnSpc>
                <a:spcPct val="135000"/>
              </a:lnSpc>
              <a:defRPr sz="1800">
                <a:solidFill>
                  <a:srgbClr val="1F2C44"/>
                </a:solidFill>
              </a:defRPr>
            </a:pPr>
            <a:r>
              <a:t>•  Selection probability depends on standardized covariates z_i</a:t>
            </a:r>
          </a:p>
          <a:p>
            <a:pPr>
              <a:lnSpc>
                <a:spcPct val="135000"/>
              </a:lnSpc>
              <a:defRPr sz="1600">
                <a:solidFill>
                  <a:srgbClr val="555555"/>
                </a:solidFill>
              </a:defRPr>
            </a:pPr>
            <a:r>
              <a:t>      –  → treatment now correlates with mortality predictors (confounding)</a:t>
            </a:r>
          </a:p>
          <a:p>
            <a:pPr>
              <a:lnSpc>
                <a:spcPct val="135000"/>
              </a:lnSpc>
              <a:defRPr sz="1800">
                <a:solidFill>
                  <a:srgbClr val="1F2C44"/>
                </a:solidFill>
              </a:defRPr>
            </a:pPr>
            <a:r>
              <a:t>•  Observed Y = selected twin's outcome</a:t>
            </a:r>
          </a:p>
          <a:p>
            <a:pPr>
              <a:lnSpc>
                <a:spcPct val="135000"/>
              </a:lnSpc>
              <a:defRPr sz="1800">
                <a:solidFill>
                  <a:srgbClr val="1F2C44"/>
                </a:solidFill>
              </a:defRPr>
            </a:pPr>
            <a:r>
              <a:t>•  Other twin's outcome held back as ground truth for §5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solidFill>
            <a:srgbClr val="E8EDF3"/>
          </a:solidFill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C0392B"/>
                </a:solidFill>
              </a:defRPr>
            </a:pPr>
            <a:r>
              <a:t>The trick: ground truth waiting on the other side. Estimators can be checked directly.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C44"/>
                </a:solidFill>
              </a:defRPr>
            </a:pPr>
            <a:r>
              <a:t>Overlap and Balance</a:t>
            </a:r>
          </a:p>
        </p:txBody>
      </p:sp>
      <p:pic>
        <p:nvPicPr>
          <p:cNvPr id="3" name="Picture 2" descr="01_over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897880" cy="3931920"/>
          </a:xfrm>
          <a:prstGeom prst="rect">
            <a:avLst/>
          </a:prstGeom>
        </p:spPr>
      </p:pic>
      <p:pic>
        <p:nvPicPr>
          <p:cNvPr id="4" name="Picture 3" descr="01_smd_top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05840"/>
            <a:ext cx="4718304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21208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500">
                <a:solidFill>
                  <a:srgbClr val="1F2C44"/>
                </a:solidFill>
              </a:defRPr>
            </a:pPr>
            <a:r>
              <a:t>•  Propensity overlap (left): both groups span 0–1, concentrate near 0.5 → no trimming</a:t>
            </a:r>
          </a:p>
          <a:p>
            <a:pPr>
              <a:lnSpc>
                <a:spcPct val="135000"/>
              </a:lnSpc>
              <a:defRPr sz="1500">
                <a:solidFill>
                  <a:srgbClr val="1F2C44"/>
                </a:solidFill>
              </a:defRPr>
            </a:pPr>
            <a:r>
              <a:t>•  SMDs (right): top imbalances 0.15–0.43 in state, birthplace, race, birth order,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89320"/>
            <a:ext cx="11247120" cy="731520"/>
          </a:xfrm>
          <a:prstGeom prst="rect">
            <a:avLst/>
          </a:prstGeom>
          <a:solidFill>
            <a:srgbClr val="E8EDF3"/>
          </a:solidFill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</a:defRPr>
            </a:pPr>
            <a:r>
              <a:t>Realistic setup — meaningful confounding to adjust for, but overlap preserved.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C44"/>
                </a:solidFill>
              </a:defRPr>
            </a:pPr>
            <a:r>
              <a:t>Identification Assumptions</a:t>
            </a:r>
          </a:p>
        </p:txBody>
      </p:sp>
      <p:pic>
        <p:nvPicPr>
          <p:cNvPr id="3" name="Picture 2" descr="02_d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2182833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188720"/>
            <a:ext cx="5943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600">
                <a:solidFill>
                  <a:srgbClr val="1F2C44"/>
                </a:solidFill>
              </a:defRPr>
            </a:pPr>
            <a:r>
              <a:t>•  Conditional ignorability:  Y(0), Y(1) ⊥ T | X</a:t>
            </a:r>
          </a:p>
          <a:p>
            <a:pPr>
              <a:lnSpc>
                <a:spcPct val="135000"/>
              </a:lnSpc>
              <a:defRPr sz="1400">
                <a:solidFill>
                  <a:srgbClr val="555555"/>
                </a:solidFill>
              </a:defRPr>
            </a:pPr>
            <a:r>
              <a:t>      –  Holds by construction in the simulation</a:t>
            </a:r>
          </a:p>
          <a:p>
            <a:pPr>
              <a:lnSpc>
                <a:spcPct val="135000"/>
              </a:lnSpc>
              <a:defRPr sz="1600">
                <a:solidFill>
                  <a:srgbClr val="1F2C44"/>
                </a:solidFill>
              </a:defRPr>
            </a:pPr>
            <a:r>
              <a:t>•  </a:t>
            </a:r>
          </a:p>
          <a:p>
            <a:pPr>
              <a:lnSpc>
                <a:spcPct val="135000"/>
              </a:lnSpc>
              <a:defRPr sz="1600">
                <a:solidFill>
                  <a:srgbClr val="1F2C44"/>
                </a:solidFill>
              </a:defRPr>
            </a:pPr>
            <a:r>
              <a:t>•  Positivity:  0 &lt; P(T=1 | X) &lt; 1</a:t>
            </a:r>
          </a:p>
          <a:p>
            <a:pPr>
              <a:lnSpc>
                <a:spcPct val="135000"/>
              </a:lnSpc>
              <a:defRPr sz="1400">
                <a:solidFill>
                  <a:srgbClr val="555555"/>
                </a:solidFill>
              </a:defRPr>
            </a:pPr>
            <a:r>
              <a:t>      –  Verified by overlap plot</a:t>
            </a:r>
          </a:p>
          <a:p>
            <a:pPr>
              <a:lnSpc>
                <a:spcPct val="135000"/>
              </a:lnSpc>
              <a:defRPr sz="1600">
                <a:solidFill>
                  <a:srgbClr val="1F2C44"/>
                </a:solidFill>
              </a:defRPr>
            </a:pPr>
            <a:r>
              <a:t>•  </a:t>
            </a:r>
          </a:p>
          <a:p>
            <a:pPr>
              <a:lnSpc>
                <a:spcPct val="135000"/>
              </a:lnSpc>
              <a:defRPr sz="1600">
                <a:solidFill>
                  <a:srgbClr val="1F2C44"/>
                </a:solidFill>
              </a:defRPr>
            </a:pPr>
            <a:r>
              <a:t>•  Consistency:  Y = T·Y(1) + (1−T)·Y(0)</a:t>
            </a:r>
          </a:p>
          <a:p>
            <a:pPr>
              <a:lnSpc>
                <a:spcPct val="135000"/>
              </a:lnSpc>
              <a:defRPr sz="1600">
                <a:solidFill>
                  <a:srgbClr val="1F2C44"/>
                </a:solidFill>
              </a:defRPr>
            </a:pPr>
            <a:r>
              <a:t>•  </a:t>
            </a:r>
          </a:p>
          <a:p>
            <a:pPr>
              <a:lnSpc>
                <a:spcPct val="135000"/>
              </a:lnSpc>
              <a:defRPr sz="1600">
                <a:solidFill>
                  <a:srgbClr val="1F2C44"/>
                </a:solidFill>
              </a:defRPr>
            </a:pPr>
            <a:r>
              <a:t>•  SUTVA (pair-level):  within-pair contrast, not single-infant intervention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solidFill>
            <a:srgbClr val="E8EDF3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0392B"/>
                </a:solidFill>
              </a:defRPr>
            </a:pPr>
            <a:r>
              <a:t>Under (1)–(4):   τ = E[ μ_1(X) − μ_0(X)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C44"/>
                </a:solidFill>
              </a:defRPr>
            </a:pPr>
            <a:r>
              <a:t>ATE Estimators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800">
                <a:solidFill>
                  <a:srgbClr val="1F2C44"/>
                </a:solidFill>
              </a:defRPr>
            </a:pPr>
            <a:r>
              <a:t>•  Outcome regression (single-model):</a:t>
            </a:r>
          </a:p>
          <a:p>
            <a:pPr>
              <a:lnSpc>
                <a:spcPct val="135000"/>
              </a:lnSpc>
              <a:defRPr sz="1600">
                <a:solidFill>
                  <a:srgbClr val="555555"/>
                </a:solidFill>
              </a:defRPr>
            </a:pPr>
            <a:r>
              <a:t>      –  Fit μ_t(x), average  μ̂_1(X) − μ̂_0(X)</a:t>
            </a:r>
          </a:p>
          <a:p>
            <a:pPr>
              <a:lnSpc>
                <a:spcPct val="135000"/>
              </a:lnSpc>
              <a:defRPr sz="1800">
                <a:solidFill>
                  <a:srgbClr val="1F2C44"/>
                </a:solidFill>
              </a:defRPr>
            </a:pPr>
            <a:r>
              <a:t>•  </a:t>
            </a:r>
          </a:p>
          <a:p>
            <a:pPr>
              <a:lnSpc>
                <a:spcPct val="135000"/>
              </a:lnSpc>
              <a:defRPr sz="1800">
                <a:solidFill>
                  <a:srgbClr val="1F2C44"/>
                </a:solidFill>
              </a:defRPr>
            </a:pPr>
            <a:r>
              <a:t>•  AIPW (doubly robust):</a:t>
            </a:r>
          </a:p>
          <a:p>
            <a:pPr>
              <a:lnSpc>
                <a:spcPct val="135000"/>
              </a:lnSpc>
              <a:defRPr sz="1600">
                <a:solidFill>
                  <a:srgbClr val="555555"/>
                </a:solidFill>
              </a:defRPr>
            </a:pPr>
            <a:r>
              <a:t>      –  Influence function combines outcome + propensity model</a:t>
            </a:r>
          </a:p>
          <a:p>
            <a:pPr>
              <a:lnSpc>
                <a:spcPct val="135000"/>
              </a:lnSpc>
              <a:defRPr sz="1600">
                <a:solidFill>
                  <a:srgbClr val="555555"/>
                </a:solidFill>
              </a:defRPr>
            </a:pPr>
            <a:r>
              <a:t>      –  Consistent if EITHER model is correctly specified</a:t>
            </a:r>
          </a:p>
          <a:p>
            <a:pPr>
              <a:lnSpc>
                <a:spcPct val="135000"/>
              </a:lnSpc>
              <a:defRPr sz="1600">
                <a:solidFill>
                  <a:srgbClr val="555555"/>
                </a:solidFill>
              </a:defRPr>
            </a:pPr>
            <a:r>
              <a:t>      –  SE = sd(ψ) / √n</a:t>
            </a:r>
          </a:p>
          <a:p>
            <a:pPr>
              <a:lnSpc>
                <a:spcPct val="135000"/>
              </a:lnSpc>
              <a:defRPr sz="1800">
                <a:solidFill>
                  <a:srgbClr val="1F2C44"/>
                </a:solidFill>
              </a:defRPr>
            </a:pPr>
            <a:r>
              <a:t>•  </a:t>
            </a:r>
          </a:p>
          <a:p>
            <a:pPr>
              <a:lnSpc>
                <a:spcPct val="135000"/>
              </a:lnSpc>
              <a:defRPr sz="1800">
                <a:solidFill>
                  <a:srgbClr val="1F2C44"/>
                </a:solidFill>
              </a:defRPr>
            </a:pPr>
            <a:r>
              <a:t>•  Both use 5-fold cross-fitted nuisances</a:t>
            </a:r>
          </a:p>
          <a:p>
            <a:pPr>
              <a:lnSpc>
                <a:spcPct val="135000"/>
              </a:lnSpc>
              <a:defRPr sz="1600">
                <a:solidFill>
                  <a:srgbClr val="555555"/>
                </a:solidFill>
              </a:defRPr>
            </a:pPr>
            <a:r>
              <a:t>      –  μ_t = gradient-boosted trees,  e = L2 logistic</a:t>
            </a:r>
          </a:p>
          <a:p>
            <a:pPr>
              <a:lnSpc>
                <a:spcPct val="135000"/>
              </a:lnSpc>
              <a:defRPr sz="1600">
                <a:solidFill>
                  <a:srgbClr val="555555"/>
                </a:solidFill>
              </a:defRPr>
            </a:pPr>
            <a:r>
              <a:t>      –  Cross-fitting → each unit's prediction excludes that unit → valid 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C44"/>
                </a:solidFill>
              </a:defRPr>
            </a:pPr>
            <a:r>
              <a:t>CATE Estimators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700">
                <a:solidFill>
                  <a:srgbClr val="1F2C44"/>
                </a:solidFill>
              </a:defRPr>
            </a:pPr>
            <a:r>
              <a:t>•  Baselines (known failure modes):</a:t>
            </a:r>
          </a:p>
          <a:p>
            <a:pPr>
              <a:lnSpc>
                <a:spcPct val="135000"/>
              </a:lnSpc>
              <a:defRPr sz="1500">
                <a:solidFill>
                  <a:srgbClr val="555555"/>
                </a:solidFill>
              </a:defRPr>
            </a:pPr>
            <a:r>
              <a:t>      –  S-learner: one GBM on [X, T] — shrinks heterogeneity to zero</a:t>
            </a:r>
          </a:p>
          <a:p>
            <a:pPr>
              <a:lnSpc>
                <a:spcPct val="135000"/>
              </a:lnSpc>
              <a:defRPr sz="1500">
                <a:solidFill>
                  <a:srgbClr val="555555"/>
                </a:solidFill>
              </a:defRPr>
            </a:pPr>
            <a:r>
              <a:t>      –  T-learner: two arm-specific GBMs — sensitive to arm imbalance</a:t>
            </a:r>
          </a:p>
          <a:p>
            <a:pPr>
              <a:lnSpc>
                <a:spcPct val="135000"/>
              </a:lnSpc>
              <a:defRPr sz="1700">
                <a:solidFill>
                  <a:srgbClr val="1F2C44"/>
                </a:solidFill>
              </a:defRPr>
            </a:pPr>
            <a:r>
              <a:t>•  </a:t>
            </a:r>
          </a:p>
          <a:p>
            <a:pPr>
              <a:lnSpc>
                <a:spcPct val="135000"/>
              </a:lnSpc>
              <a:defRPr sz="1700">
                <a:solidFill>
                  <a:srgbClr val="1F2C44"/>
                </a:solidFill>
              </a:defRPr>
            </a:pPr>
            <a:r>
              <a:t>•  Double/Debiased ML family (the heavy lifters):</a:t>
            </a:r>
          </a:p>
          <a:p>
            <a:pPr>
              <a:lnSpc>
                <a:spcPct val="135000"/>
              </a:lnSpc>
              <a:defRPr sz="1500">
                <a:solidFill>
                  <a:srgbClr val="555555"/>
                </a:solidFill>
              </a:defRPr>
            </a:pPr>
            <a:r>
              <a:t>      –  DR-learner (Kennedy 2023): regress AIPW pseudo-outcome on X</a:t>
            </a:r>
          </a:p>
          <a:p>
            <a:pPr>
              <a:lnSpc>
                <a:spcPct val="135000"/>
              </a:lnSpc>
              <a:defRPr sz="1500">
                <a:solidFill>
                  <a:srgbClr val="555555"/>
                </a:solidFill>
              </a:defRPr>
            </a:pPr>
            <a:r>
              <a:t>      –  R-learner (Nie &amp; Wager 2021): minimize Σ(ỹ_i − t̃_i τ(X_i))²</a:t>
            </a:r>
          </a:p>
          <a:p>
            <a:pPr>
              <a:lnSpc>
                <a:spcPct val="135000"/>
              </a:lnSpc>
              <a:defRPr sz="1500">
                <a:solidFill>
                  <a:srgbClr val="555555"/>
                </a:solidFill>
              </a:defRPr>
            </a:pPr>
            <a:r>
              <a:t>      –  Causal forest (Wager &amp; Athey 2018): honest splits + pointwise CIs</a:t>
            </a:r>
          </a:p>
          <a:p>
            <a:pPr>
              <a:lnSpc>
                <a:spcPct val="135000"/>
              </a:lnSpc>
              <a:defRPr sz="1700">
                <a:solidFill>
                  <a:srgbClr val="1F2C44"/>
                </a:solidFill>
              </a:defRPr>
            </a:pPr>
            <a:r>
              <a:t>•  </a:t>
            </a:r>
          </a:p>
          <a:p>
            <a:pPr>
              <a:lnSpc>
                <a:spcPct val="135000"/>
              </a:lnSpc>
              <a:defRPr sz="1700">
                <a:solidFill>
                  <a:srgbClr val="1F2C44"/>
                </a:solidFill>
              </a:defRPr>
            </a:pPr>
            <a:r>
              <a:t>•  All orthogonalize → first-stage nuisance errors only contribute second-order bias</a:t>
            </a:r>
          </a:p>
          <a:p>
            <a:pPr>
              <a:lnSpc>
                <a:spcPct val="135000"/>
              </a:lnSpc>
              <a:defRPr sz="1500">
                <a:solidFill>
                  <a:srgbClr val="555555"/>
                </a:solidFill>
              </a:defRPr>
            </a:pPr>
            <a:r>
              <a:t>      –  Matters here because mortality is rare (18%) → fragile propensities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C44"/>
                </a:solidFill>
              </a:defRPr>
            </a:pPr>
            <a:r>
              <a:t>ATE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188720"/>
          <a:ext cx="9418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80"/>
                <a:gridCol w="2354580"/>
                <a:gridCol w="2354580"/>
                <a:gridCol w="2354580"/>
              </a:tblGrid>
              <a:tr h="4572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F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Estimate</a:t>
                      </a:r>
                    </a:p>
                  </a:txBody>
                  <a:tcPr>
                    <a:solidFill>
                      <a:srgbClr val="1F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SE</a:t>
                      </a:r>
                    </a:p>
                  </a:txBody>
                  <a:tcPr>
                    <a:solidFill>
                      <a:srgbClr val="1F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>
                    <a:solidFill>
                      <a:srgbClr val="1F2C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F2C44"/>
                          </a:solidFill>
                        </a:rPr>
                        <a:t>Outcome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F2C44"/>
                          </a:solidFill>
                        </a:rPr>
                        <a:t>−0.0242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F2C44"/>
                          </a:solidFill>
                        </a:rPr>
                        <a:t>0.00057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F2C44"/>
                          </a:solidFill>
                        </a:rPr>
                        <a:t>(−0.0253, −0.0230)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F2C44"/>
                          </a:solidFill>
                        </a:rPr>
                        <a:t>AIPW (doubly robust)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F2C44"/>
                          </a:solidFill>
                        </a:rPr>
                        <a:t>−0.0248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F2C44"/>
                          </a:solidFill>
                        </a:rPr>
                        <a:t>0.00647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F2C44"/>
                          </a:solidFill>
                        </a:rPr>
                        <a:t>(−0.0375, −0.0122)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F2C44"/>
                          </a:solidFill>
                        </a:rPr>
                        <a:t>Within-pair benchmark (truth)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F2C44"/>
                          </a:solidFill>
                        </a:rPr>
                        <a:t>−0.0252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F2C44"/>
                          </a:solidFill>
                        </a:rPr>
                        <a:t>0.00292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F2C44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38328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800">
                <a:solidFill>
                  <a:srgbClr val="1F2C44"/>
                </a:solidFill>
              </a:defRPr>
            </a:pPr>
            <a:r>
              <a:t>•  Both estimators within 0.001 of the within-pair truth</a:t>
            </a:r>
          </a:p>
          <a:p>
            <a:pPr>
              <a:lnSpc>
                <a:spcPct val="135000"/>
              </a:lnSpc>
              <a:defRPr sz="1800">
                <a:solidFill>
                  <a:srgbClr val="1F2C44"/>
                </a:solidFill>
              </a:defRPr>
            </a:pPr>
            <a:r>
              <a:t>•  AIPW CI covers the truth</a:t>
            </a:r>
          </a:p>
          <a:p>
            <a:pPr>
              <a:lnSpc>
                <a:spcPct val="135000"/>
              </a:lnSpc>
              <a:defRPr sz="1800">
                <a:solidFill>
                  <a:srgbClr val="1F2C44"/>
                </a:solidFill>
              </a:defRPr>
            </a:pPr>
            <a:r>
              <a:t>•  OR's SE is from fixed-nuisance bootstrap → understates uncertainty; AIPW SE is trustworthy</a:t>
            </a:r>
          </a:p>
          <a:p>
            <a:pPr>
              <a:lnSpc>
                <a:spcPct val="135000"/>
              </a:lnSpc>
              <a:defRPr sz="1800">
                <a:solidFill>
                  <a:srgbClr val="1F2C44"/>
                </a:solidFill>
              </a:defRPr>
            </a:pPr>
            <a:r>
              <a:t>•  OR and AIPW agree → ATE is not driven by one estimator's modeling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solidFill>
            <a:srgbClr val="E8EDF3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392B"/>
                </a:solidFill>
              </a:defRPr>
            </a:pPr>
            <a:r>
              <a:t>Heavier twin reduces one-year mortality by ~2.4–2.5 percentage points.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C44"/>
                </a:solidFill>
              </a:defRPr>
            </a:pPr>
            <a:r>
              <a:t>CATE Distributions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5943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4114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F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mean(τ̂)</a:t>
                      </a:r>
                    </a:p>
                  </a:txBody>
                  <a:tcPr>
                    <a:solidFill>
                      <a:srgbClr val="1F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sd(τ̂)</a:t>
                      </a:r>
                    </a:p>
                  </a:txBody>
                  <a:tcPr>
                    <a:solidFill>
                      <a:srgbClr val="1F2C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S-learner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−0.018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0.012   ← under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T-learner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−0.025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0.062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DR-learner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−0.025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0.168   ← over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R-learner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−0.024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0.059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Causal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−0.024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0.022   ← under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True 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−0.025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0.320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0" y="1188720"/>
            <a:ext cx="5029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500">
                <a:solidFill>
                  <a:srgbClr val="1F2C44"/>
                </a:solidFill>
              </a:defRPr>
            </a:pPr>
            <a:r>
              <a:t>•  Lower bound on true sd[τ(X)]:</a:t>
            </a:r>
          </a:p>
          <a:p>
            <a:pPr>
              <a:lnSpc>
                <a:spcPct val="135000"/>
              </a:lnSpc>
              <a:defRPr sz="1300">
                <a:solidFill>
                  <a:srgbClr val="555555"/>
                </a:solidFill>
              </a:defRPr>
            </a:pPr>
            <a:r>
              <a:t>      –  Bin into 50 bins by CF prediction</a:t>
            </a:r>
          </a:p>
          <a:p>
            <a:pPr>
              <a:lnSpc>
                <a:spcPct val="135000"/>
              </a:lnSpc>
              <a:defRPr sz="1300">
                <a:solidFill>
                  <a:srgbClr val="555555"/>
                </a:solidFill>
              </a:defRPr>
            </a:pPr>
            <a:r>
              <a:t>      –  Take between-bin variance of true ITE</a:t>
            </a:r>
          </a:p>
          <a:p>
            <a:pPr>
              <a:lnSpc>
                <a:spcPct val="135000"/>
              </a:lnSpc>
              <a:defRPr sz="1300" b="1">
                <a:solidFill>
                  <a:srgbClr val="C0392B"/>
                </a:solidFill>
              </a:defRPr>
            </a:pPr>
            <a:r>
              <a:t>      –  Gives sd[τ(X)] ≥ 0.079</a:t>
            </a:r>
          </a:p>
          <a:p>
            <a:pPr>
              <a:lnSpc>
                <a:spcPct val="135000"/>
              </a:lnSpc>
              <a:defRPr sz="1500">
                <a:solidFill>
                  <a:srgbClr val="1F2C44"/>
                </a:solidFill>
              </a:defRPr>
            </a:pPr>
            <a:r>
              <a:t>•  </a:t>
            </a:r>
          </a:p>
          <a:p>
            <a:pPr>
              <a:lnSpc>
                <a:spcPct val="135000"/>
              </a:lnSpc>
              <a:defRPr sz="1500">
                <a:solidFill>
                  <a:srgbClr val="1F2C44"/>
                </a:solidFill>
              </a:defRPr>
            </a:pPr>
            <a:r>
              <a:t>•  Against 0.079 benchmark:</a:t>
            </a:r>
          </a:p>
          <a:p>
            <a:pPr>
              <a:lnSpc>
                <a:spcPct val="135000"/>
              </a:lnSpc>
              <a:defRPr sz="1300">
                <a:solidFill>
                  <a:srgbClr val="555555"/>
                </a:solidFill>
              </a:defRPr>
            </a:pPr>
            <a:r>
              <a:t>      –  S (0.012), CF (0.022) under-disperse</a:t>
            </a:r>
          </a:p>
          <a:p>
            <a:pPr>
              <a:lnSpc>
                <a:spcPct val="135000"/>
              </a:lnSpc>
              <a:defRPr sz="1300">
                <a:solidFill>
                  <a:srgbClr val="555555"/>
                </a:solidFill>
              </a:defRPr>
            </a:pPr>
            <a:r>
              <a:t>      –  T (0.062), R (0.059) closest</a:t>
            </a:r>
          </a:p>
          <a:p>
            <a:pPr>
              <a:lnSpc>
                <a:spcPct val="135000"/>
              </a:lnSpc>
              <a:defRPr sz="1300">
                <a:solidFill>
                  <a:srgbClr val="555555"/>
                </a:solidFill>
              </a:defRPr>
            </a:pPr>
            <a:r>
              <a:t>      –  DR (0.168) over-disperses — mostly 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500">
                <a:solidFill>
                  <a:srgbClr val="1F2C44"/>
                </a:solidFill>
              </a:defRPr>
            </a:pPr>
            <a:r>
              <a:t>•  All five agree on the mean. Spreads disagree wildly.</a:t>
            </a:r>
          </a:p>
          <a:p>
            <a:pPr>
              <a:lnSpc>
                <a:spcPct val="135000"/>
              </a:lnSpc>
              <a:defRPr sz="1500">
                <a:solidFill>
                  <a:srgbClr val="1F2C44"/>
                </a:solidFill>
              </a:defRPr>
            </a:pPr>
            <a:r>
              <a:t>•  True ITE sd of 0.32 is mechanical (each ITE ∈ {−1, 0, +1}) — compare to 0.079 lower bound, not raw ITE sd.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C44"/>
                </a:solidFill>
              </a:defRPr>
            </a:pPr>
            <a:r>
              <a:t>CATE Ranking vs. Ground Truth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5943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F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PEHE</a:t>
                      </a:r>
                    </a:p>
                  </a:txBody>
                  <a:tcPr>
                    <a:solidFill>
                      <a:srgbClr val="1F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Spearman ρ</a:t>
                      </a:r>
                    </a:p>
                  </a:txBody>
                  <a:tcPr>
                    <a:solidFill>
                      <a:srgbClr val="1F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Kendall τ</a:t>
                      </a:r>
                    </a:p>
                  </a:txBody>
                  <a:tcPr>
                    <a:solidFill>
                      <a:srgbClr val="1F2C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S-learner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0.320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0.020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0.016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T-learner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0.318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0.103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0.084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DR-learner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0.360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0.036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0.029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R-learner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0.321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0.046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0.037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Causal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0.316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0.197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0.160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06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51560"/>
            <a:ext cx="4267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0292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500">
                <a:solidFill>
                  <a:srgbClr val="1F2C44"/>
                </a:solidFill>
              </a:defRPr>
            </a:pPr>
            <a:r>
              <a:t>•  PEHE gap is small — binary outcomes are noisy (CF beats baseline by only 1.2%)</a:t>
            </a:r>
          </a:p>
          <a:p>
            <a:pPr>
              <a:lnSpc>
                <a:spcPct val="135000"/>
              </a:lnSpc>
              <a:defRPr sz="1500">
                <a:solidFill>
                  <a:srgbClr val="1F2C44"/>
                </a:solidFill>
              </a:defRPr>
            </a:pPr>
            <a:r>
              <a:t>•  Rank correlation is the decision-relevant metric</a:t>
            </a:r>
          </a:p>
          <a:p>
            <a:pPr>
              <a:lnSpc>
                <a:spcPct val="135000"/>
              </a:lnSpc>
              <a:defRPr sz="1500" b="1">
                <a:solidFill>
                  <a:srgbClr val="C0392B"/>
                </a:solidFill>
              </a:defRPr>
            </a:pPr>
            <a:r>
              <a:t>•  CF Spearman ρ = 0.20 → ~2× T-learner, ~5× DR, ~10× S</a:t>
            </a:r>
          </a:p>
          <a:p>
            <a:pPr>
              <a:lnSpc>
                <a:spcPct val="135000"/>
              </a:lnSpc>
              <a:defRPr sz="1500">
                <a:solidFill>
                  <a:srgbClr val="1F2C44"/>
                </a:solidFill>
              </a:defRPr>
            </a:pPr>
            <a:r>
              <a:t>•  Calibration: nearly monotone, but slope &gt; 1 at extremes (honest-forest shrinkage)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C44"/>
                </a:solidFill>
              </a:defRPr>
            </a:pPr>
            <a:r>
              <a:t>Headline Finding: Subgroup Failure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114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>
                    <a:solidFill>
                      <a:srgbClr val="1F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F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AIPW GATE</a:t>
                      </a:r>
                    </a:p>
                  </a:txBody>
                  <a:tcPr>
                    <a:solidFill>
                      <a:srgbClr val="1F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Truth GATE</a:t>
                      </a:r>
                    </a:p>
                  </a:txBody>
                  <a:tcPr>
                    <a:solidFill>
                      <a:srgbClr val="1F2C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Q1 (shortest gestation)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6,681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−0.018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−0.029  ← strongest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Q2 (middle gestation)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4,058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−0.028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−0.018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Q3 (longest gestation)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1,245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−0.053  ← strongest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−0.025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10896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700">
                <a:solidFill>
                  <a:srgbClr val="1F2C44"/>
                </a:solidFill>
              </a:defRPr>
            </a:pPr>
            <a:r>
              <a:t>•  AIPW says: monotone, effect triples from Q1 to Q3</a:t>
            </a:r>
          </a:p>
          <a:p>
            <a:pPr>
              <a:lnSpc>
                <a:spcPct val="135000"/>
              </a:lnSpc>
              <a:defRPr sz="1700">
                <a:solidFill>
                  <a:srgbClr val="1F2C44"/>
                </a:solidFill>
              </a:defRPr>
            </a:pPr>
            <a:r>
              <a:t>•  Truth says: non-monotone, Q1 strongest, opposite ordering</a:t>
            </a:r>
          </a:p>
          <a:p>
            <a:pPr>
              <a:lnSpc>
                <a:spcPct val="135000"/>
              </a:lnSpc>
              <a:defRPr sz="1700" b="1">
                <a:solidFill>
                  <a:srgbClr val="C0392B"/>
                </a:solidFill>
              </a:defRPr>
            </a:pPr>
            <a:r>
              <a:t>•  Analyst with only AIPW would publish 'effect triples with longer gestation' — wrong</a:t>
            </a:r>
          </a:p>
          <a:p>
            <a:pPr>
              <a:lnSpc>
                <a:spcPct val="135000"/>
              </a:lnSpc>
              <a:defRPr sz="1700">
                <a:solidFill>
                  <a:srgbClr val="1F2C44"/>
                </a:solidFill>
              </a:defRPr>
            </a:pPr>
            <a:r>
              <a:t>•  </a:t>
            </a:r>
          </a:p>
          <a:p>
            <a:pPr>
              <a:lnSpc>
                <a:spcPct val="135000"/>
              </a:lnSpc>
              <a:defRPr sz="1700">
                <a:solidFill>
                  <a:srgbClr val="1F2C44"/>
                </a:solidFill>
              </a:defRPr>
            </a:pPr>
            <a:r>
              <a:t>•  Likely cause: Q3 has only 1,245 pairs; AIPW SE in Q3 is ~3× the others</a:t>
            </a:r>
          </a:p>
          <a:p>
            <a:pPr>
              <a:lnSpc>
                <a:spcPct val="135000"/>
              </a:lnSpc>
              <a:defRPr sz="1700">
                <a:solidFill>
                  <a:srgbClr val="1F2C44"/>
                </a:solidFill>
              </a:defRPr>
            </a:pPr>
            <a:r>
              <a:t>•  Not a generic AIPW failure: prenatal-care subgroups agree with truth (~−0.025 across all)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C44"/>
                </a:solidFill>
              </a:defRPr>
            </a:pPr>
            <a:r>
              <a:t>BLP Confirms the Warning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600">
                <a:solidFill>
                  <a:srgbClr val="1F2C44"/>
                </a:solidFill>
              </a:defRPr>
            </a:pPr>
            <a:r>
              <a:t>•  Regress AIPW pseudo-outcome AND true ITE on 8 clinical effect modifiers (HC3 SEs)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554480"/>
          <a:ext cx="10332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F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AIPW coef [p]</a:t>
                      </a:r>
                    </a:p>
                  </a:txBody>
                  <a:tcPr>
                    <a:solidFill>
                      <a:srgbClr val="1F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Truth coef [p]</a:t>
                      </a:r>
                    </a:p>
                  </a:txBody>
                  <a:tcPr>
                    <a:solidFill>
                      <a:srgbClr val="1F2C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gestat10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−0.013  [ 0.025 ]   ← 'significant'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−0.0001  [ 0.964 ]   ← zero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chyper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+0.112  [ 0.130 ]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+0.044  [ 0.097 ]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preterm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−0.039  [ 0.369 ]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+0.031  [ 0.065 ]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others (5)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all p &gt; 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C44"/>
                          </a:solidFill>
                        </a:rPr>
                        <a:t>all p &gt; 0.4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48056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700">
                <a:solidFill>
                  <a:srgbClr val="1F2C44"/>
                </a:solidFill>
              </a:defRPr>
            </a:pPr>
            <a:r>
              <a:t>•  AIPW BLP looks defensible on its own — right framework, valid SEs, sub-0.05 p-value</a:t>
            </a:r>
          </a:p>
          <a:p>
            <a:pPr>
              <a:lnSpc>
                <a:spcPct val="135000"/>
              </a:lnSpc>
              <a:defRPr sz="1700">
                <a:solidFill>
                  <a:srgbClr val="1F2C44"/>
                </a:solidFill>
              </a:defRPr>
            </a:pPr>
            <a:r>
              <a:t>•  Truth BLP shows the finding is spurious</a:t>
            </a:r>
          </a:p>
          <a:p>
            <a:pPr>
              <a:lnSpc>
                <a:spcPct val="135000"/>
              </a:lnSpc>
              <a:defRPr sz="1700" b="1">
                <a:solidFill>
                  <a:srgbClr val="C0392B"/>
                </a:solidFill>
              </a:defRPr>
            </a:pPr>
            <a:r>
              <a:t>•  Nothing inside AIPW flags the false positive — only the external benchmark does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C44"/>
                </a:solidFill>
              </a:defRPr>
            </a:pPr>
            <a:r>
              <a:t>ATE Is Robust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800">
                <a:solidFill>
                  <a:srgbClr val="1F2C44"/>
                </a:solidFill>
              </a:defRPr>
            </a:pPr>
            <a:r>
              <a:t>•  DoWhy-style refutations: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>
                    <a:solidFill>
                      <a:srgbClr val="1F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Original</a:t>
                      </a:r>
                    </a:p>
                  </a:txBody>
                  <a:tcPr>
                    <a:solidFill>
                      <a:srgbClr val="1F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Refuted</a:t>
                      </a:r>
                    </a:p>
                  </a:txBody>
                  <a:tcPr>
                    <a:solidFill>
                      <a:srgbClr val="1F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>
                    <a:solidFill>
                      <a:srgbClr val="1F2C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Placebo (permute 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−0.0248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−0.0003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+0.0245  ✓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Random common cause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−0.0248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−0.0252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−0.0003  ✓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80% subset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−0.0248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−0.0235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C44"/>
                          </a:solidFill>
                        </a:rPr>
                        <a:t>+0.0013  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576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600">
                <a:solidFill>
                  <a:srgbClr val="1F2C44"/>
                </a:solidFill>
              </a:defRPr>
            </a:pPr>
            <a:r>
              <a:t>•  Sensitivity to a simulated unmeasured confounder U:</a:t>
            </a:r>
          </a:p>
          <a:p>
            <a:pPr>
              <a:lnSpc>
                <a:spcPct val="135000"/>
              </a:lnSpc>
              <a:defRPr sz="1400">
                <a:solidFill>
                  <a:srgbClr val="555555"/>
                </a:solidFill>
              </a:defRPr>
            </a:pPr>
            <a:r>
              <a:t>      –  Simulate binary U with associations of strength k_T to T and k_Y to Y</a:t>
            </a:r>
          </a:p>
          <a:p>
            <a:pPr>
              <a:lnSpc>
                <a:spcPct val="135000"/>
              </a:lnSpc>
              <a:defRPr sz="1400">
                <a:solidFill>
                  <a:srgbClr val="555555"/>
                </a:solidFill>
              </a:defRPr>
            </a:pPr>
            <a:r>
              <a:t>      –  Append U to X, recompute AIPW across a 5×5 grid</a:t>
            </a:r>
          </a:p>
          <a:p>
            <a:pPr>
              <a:lnSpc>
                <a:spcPct val="135000"/>
              </a:lnSpc>
              <a:defRPr sz="1400" b="1">
                <a:solidFill>
                  <a:srgbClr val="C0392B"/>
                </a:solidFill>
              </a:defRPr>
            </a:pPr>
            <a:r>
              <a:t>      –  All 25 cells stay negative (range −0.022 to −0.067)</a:t>
            </a:r>
          </a:p>
          <a:p>
            <a:pPr>
              <a:lnSpc>
                <a:spcPct val="135000"/>
              </a:lnSpc>
              <a:defRPr sz="1400">
                <a:solidFill>
                  <a:srgbClr val="555555"/>
                </a:solidFill>
              </a:defRPr>
            </a:pPr>
            <a:r>
              <a:t>      –  No (k_T, k_Y) combination flips the sign of the 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C44"/>
                </a:solidFill>
              </a:defRPr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800" b="1">
                <a:solidFill>
                  <a:srgbClr val="C0392B"/>
                </a:solidFill>
              </a:defRPr>
            </a:pPr>
            <a:r>
              <a:t>•  ATE: heavier twin → ~2.4–2.5 pp lower one-year mortality</a:t>
            </a:r>
          </a:p>
          <a:p>
            <a:pPr>
              <a:lnSpc>
                <a:spcPct val="135000"/>
              </a:lnSpc>
              <a:defRPr sz="1600">
                <a:solidFill>
                  <a:srgbClr val="555555"/>
                </a:solidFill>
              </a:defRPr>
            </a:pPr>
            <a:r>
              <a:t>      –  Stable across OR, AIPW, truth, refutations, sensitivity grid</a:t>
            </a:r>
          </a:p>
          <a:p>
            <a:pPr>
              <a:lnSpc>
                <a:spcPct val="135000"/>
              </a:lnSpc>
              <a:defRPr sz="1800">
                <a:solidFill>
                  <a:srgbClr val="1F2C44"/>
                </a:solidFill>
              </a:defRPr>
            </a:pPr>
            <a:r>
              <a:t>•  </a:t>
            </a:r>
          </a:p>
          <a:p>
            <a:pPr>
              <a:lnSpc>
                <a:spcPct val="135000"/>
              </a:lnSpc>
              <a:defRPr sz="1800" b="1">
                <a:solidFill>
                  <a:srgbClr val="C0392B"/>
                </a:solidFill>
              </a:defRPr>
            </a:pPr>
            <a:r>
              <a:t>•  CATE: causal forest ranks pairs well, but subgroup claims fail the benchmark</a:t>
            </a:r>
          </a:p>
          <a:p>
            <a:pPr>
              <a:lnSpc>
                <a:spcPct val="135000"/>
              </a:lnSpc>
              <a:defRPr sz="1600">
                <a:solidFill>
                  <a:srgbClr val="555555"/>
                </a:solidFill>
              </a:defRPr>
            </a:pPr>
            <a:r>
              <a:t>      –  gestat10 is 'significant' in AIPW BLP (p = 0.025), zero in truth (p = 0.96)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1280160"/>
          </a:xfrm>
          <a:prstGeom prst="rect">
            <a:avLst/>
          </a:prstGeom>
          <a:solidFill>
            <a:srgbClr val="E8EDF3"/>
          </a:solidFill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555555"/>
                </a:solidFill>
              </a:defRPr>
            </a:pPr>
            <a:r>
              <a:t>Methodological lesson:</a:t>
            </a:r>
          </a:p>
          <a:p>
            <a:pPr>
              <a:defRPr sz="1700" b="1">
                <a:solidFill>
                  <a:srgbClr val="C0392B"/>
                </a:solidFill>
              </a:defRPr>
            </a:pPr>
            <a:r>
              <a:t>AIPW ATE and AIPW subgroup effects can be trustworthy and untrustworthy on the SAME dataset.</a:t>
            </a:r>
          </a:p>
          <a:p>
            <a:pPr>
              <a:defRPr sz="1700" b="1">
                <a:solidFill>
                  <a:srgbClr val="C0392B"/>
                </a:solidFill>
              </a:defRPr>
            </a:pPr>
            <a:r>
              <a:t>Nothing inside AIPW flags the failure — only an external benchmark does.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600">
                <a:solidFill>
                  <a:srgbClr val="1F2C44"/>
                </a:solidFill>
              </a:defRPr>
            </a:pPr>
            <a:r>
              <a:t>•  Recommended pipeline for similar studies:</a:t>
            </a:r>
          </a:p>
          <a:p>
            <a:pPr>
              <a:lnSpc>
                <a:spcPct val="135000"/>
              </a:lnSpc>
              <a:defRPr sz="1400">
                <a:solidFill>
                  <a:srgbClr val="555555"/>
                </a:solidFill>
              </a:defRPr>
            </a:pPr>
            <a:r>
              <a:t>      –  ATE: AIPW + ≥1 auxiliary estimator (e.g. OR) for triangulation</a:t>
            </a:r>
          </a:p>
          <a:p>
            <a:pPr>
              <a:lnSpc>
                <a:spcPct val="135000"/>
              </a:lnSpc>
              <a:defRPr sz="1400">
                <a:solidFill>
                  <a:srgbClr val="555555"/>
                </a:solidFill>
              </a:defRPr>
            </a:pPr>
            <a:r>
              <a:t>      –  CATE: causal forest + ≥1 orthogonalized meta-learner for cross-check</a:t>
            </a:r>
          </a:p>
          <a:p>
            <a:pPr>
              <a:lnSpc>
                <a:spcPct val="135000"/>
              </a:lnSpc>
              <a:defRPr sz="1400">
                <a:solidFill>
                  <a:srgbClr val="555555"/>
                </a:solidFill>
              </a:defRPr>
            </a:pPr>
            <a:r>
              <a:t>      –  Subgroups only with a design-based oracle OR subgroup propensity diagnostics + TMLE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