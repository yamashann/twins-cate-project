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94560"/>
            <a:ext cx="11247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2C44"/>
                </a:solidFill>
              </a:defRPr>
            </a:pPr>
            <a:r>
              <a:t>The Causal Effect of Birthweight</a:t>
            </a:r>
          </a:p>
          <a:p>
            <a:pPr algn="ctr">
              <a:defRPr sz="4000" b="1">
                <a:solidFill>
                  <a:srgbClr val="1F2C44"/>
                </a:solidFill>
              </a:defRPr>
            </a:pPr>
            <a:r>
              <a:t>on Infant Mortality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555555"/>
                </a:solidFill>
              </a:defRPr>
            </a:pPr>
            <a:r>
              <a:t>Twins Dataset — ATE, CATE,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1F2C44"/>
                </a:solidFill>
              </a:defRPr>
            </a:pPr>
            <a:r>
              <a:t>Hannah Yamashita</a:t>
            </a:r>
          </a:p>
          <a:p>
            <a:pPr algn="ctr">
              <a:defRPr sz="1600">
                <a:solidFill>
                  <a:srgbClr val="555555"/>
                </a:solidFill>
              </a:defRPr>
            </a:pPr>
            <a:r>
              <a:t>Causal Models in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Low birthweight is a strong predictor of infant mortality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But predictors aren't necessarily causes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Maternal conditions (diabetes, hypertension, smoking) drive both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→ the observed association could be mostly confounding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Why it matters for policy: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If causal → improving fetal growth could reduce mortality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If confounded → resources better spent on maternal conditions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 b="1">
                <a:solidFill>
                  <a:srgbClr val="C0392B"/>
                </a:solidFill>
              </a:defRPr>
            </a:pPr>
            <a:r>
              <a:t>•  My question: what's the causal effect of being the heavier twin on one-year mortality?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Roadmap: data &amp; setup → identification &amp; methods → ATE &amp; CATE results → evaluation → limitations &amp;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The Twins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Source: Louizos et al. (2017), preprocessed from CEVAE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11,984 same-sex twin pairs, both infants under 2 kg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Treatment T: heavier twin (1 = heavier)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Outcome Y: one-year mortality (P(Y=1) = 0.18)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Covariates X: 50 maternal / pregnancy characteristics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Pregnancy: gestational age, prenatal visits, parity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Maternal demographics: age, education, race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Risk indicators: diabetes, hypertension, anemia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Administrative: state, birth month, year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 b="1">
                <a:solidFill>
                  <a:srgbClr val="C0392B"/>
                </a:solidFill>
              </a:defRPr>
            </a:pPr>
            <a:r>
              <a:t>•  Why Twins is special: both potential outcomes observed → design-based ground truth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Setting Up the Observational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2000">
                <a:solidFill>
                  <a:srgbClr val="1F2C44"/>
                </a:solidFill>
              </a:defRPr>
            </a:pPr>
            <a:r>
              <a:t>•  Both potential outcomes observed → ATE trivially identified</a:t>
            </a:r>
          </a:p>
          <a:p>
            <a:pPr>
              <a:lnSpc>
                <a:spcPct val="135000"/>
              </a:lnSpc>
              <a:defRPr sz="2000">
                <a:solidFill>
                  <a:srgbClr val="1F2C44"/>
                </a:solidFill>
              </a:defRPr>
            </a:pPr>
            <a:r>
              <a:t>•  To mimic a real observational study, I simulate confounded assignment: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F2C44"/>
                </a:solidFill>
                <a:latin typeface="Consolas"/>
              </a:defRPr>
            </a:pPr>
            <a:r>
              <a:t>p_i = sigmoid(z_i^T w + n_i),    T_i ~ Bernoulli(p_i)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Randomly select one twin per pair as 'treated'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Selection probability depends on standardized covariates z_i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→ treatment now correlates with mortality predictors (confounding)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Observed Y = selected twin's outcome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Other twin's outcome held back as ground truth for §5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solidFill>
            <a:srgbClr val="E8EDF3"/>
          </a:solidFill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C0392B"/>
                </a:solidFill>
              </a:defRPr>
            </a:pPr>
            <a:r>
              <a:t>The trick: ground truth waiting on the other side. Estimators can be checked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Overlap and Balance</a:t>
            </a:r>
          </a:p>
        </p:txBody>
      </p:sp>
      <p:pic>
        <p:nvPicPr>
          <p:cNvPr id="3" name="Picture 2" descr="01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897880" cy="3931920"/>
          </a:xfrm>
          <a:prstGeom prst="rect">
            <a:avLst/>
          </a:prstGeom>
        </p:spPr>
      </p:pic>
      <p:pic>
        <p:nvPicPr>
          <p:cNvPr id="4" name="Picture 3" descr="01_smd_top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4718304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120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Propensity overlap (left): both groups span 0–1, concentrate near 0.5 → no trimming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SMDs (right): top imbalances 0.15–0.43 in state, birthplace, race, birth order, 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89320"/>
            <a:ext cx="11247120" cy="731520"/>
          </a:xfrm>
          <a:prstGeom prst="rect">
            <a:avLst/>
          </a:prstGeom>
          <a:solidFill>
            <a:srgbClr val="E8EDF3"/>
          </a:solidFill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0392B"/>
                </a:solidFill>
              </a:defRPr>
            </a:pPr>
            <a:r>
              <a:t>Realistic setup — meaningful confounding to adjust for, but overlap preserved.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Identification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Causal inference rests on assumptions you can't verify from the data alone.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I rely on four standard ones: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4519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Conditional ignorability:  once I condition on X, treatment is as-if-random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Y(0), Y(1) ⊥ T | X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Holds by construction here — treatment was generated from X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Positivity:  every covariate combination has a nonzero chance of either treatment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0 &lt; P(T=1 | X) &lt; 1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Verified by the overlap plot in §2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Consistency:  the observed outcome equals the potential outcome under the assigned T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Y = T·Y(1) + (1−T)·Y(0)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SUTVA (pair-level):  treatment is a within-pair contrast — heavier vs. lighter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Estimand is a pair-level comparison, not a single-infant intervention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solidFill>
            <a:srgbClr val="E8EDF3"/>
          </a:solidFill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C0392B"/>
                </a:solidFill>
              </a:defRPr>
            </a:pPr>
            <a:r>
              <a:t>Under (1)–(4):   τ = E[ μ_1(X) − μ_0(X)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ATE Estimators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Outcome regression (single-model):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Fit μ_t(x), average  μ̂_1(X) − μ̂_0(X)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AIPW (doubly robust):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Influence function combines outcome + propensity model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Consistent if EITHER model is correctly specified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SE = sd(ψ) / √n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Both use 5-fold cross-fitted nuisances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μ_t = gradient-boosted trees,  e = L2 logistic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Cross-fitting → each unit's prediction excludes that unit → valid 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CATE Estimators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Baselines (known failure modes):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S-learner: one GBM on [X, T] — shrinks heterogeneity to zero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T-learner: two arm-specific GBMs — sensitive to arm imbalance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Double/Debiased ML family (the heavy lifters):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DR-learner (Kennedy 2023): regress AIPW pseudo-outcome on X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R-learner (Nie &amp; Wager 2021): minimize Σ(ỹ_i − t̃_i τ(X_i))²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Causal forest (Wager &amp; Athey 2018): honest splits + pointwise CIs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All orthogonalize → first-stage nuisance errors only contribute second-order bias</a:t>
            </a:r>
          </a:p>
          <a:p>
            <a:pPr>
              <a:lnSpc>
                <a:spcPct val="135000"/>
              </a:lnSpc>
              <a:defRPr sz="1500">
                <a:solidFill>
                  <a:srgbClr val="555555"/>
                </a:solidFill>
              </a:defRPr>
            </a:pPr>
            <a:r>
              <a:t>      –  Matters here because mortality is rare (18%) → fragile propensities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ATE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188720"/>
          <a:ext cx="9418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Estimate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Outcome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−0.0242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0.00057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(−0.0253, −0.0230)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AIPW (doubly robust)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−0.0248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0.00647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(−0.0375, −0.0122)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Within-pair benchmark (truth)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−0.0252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0.00292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1F2C44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383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Both estimators within 0.001 of the within-pair truth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AIPW CI covers the truth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OR's SE is from fixed-nuisance bootstrap → understates uncertainty; AIPW SE is trustworthy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OR and AIPW agree → ATE is not driven by one estimator's modeling choices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solidFill>
            <a:srgbClr val="E8EDF3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Heavier twin reduces one-year mortality by ~2.4–2.5 percentage points.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CATE Distributions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943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411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mean(τ̂)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sd(τ̂)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S-learner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0.012   ← under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T-learner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0.062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DR-learner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0.168   ← over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R-learner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0.059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Causal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0.022   ← under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True 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0.320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0" y="118872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Lower bound on true sd[τ(X)]: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Bin into 50 bins by CF prediction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Take between-bin variance of true ITE</a:t>
            </a:r>
          </a:p>
          <a:p>
            <a:pPr>
              <a:lnSpc>
                <a:spcPct val="135000"/>
              </a:lnSpc>
              <a:defRPr sz="1300" b="1">
                <a:solidFill>
                  <a:srgbClr val="C0392B"/>
                </a:solidFill>
              </a:defRPr>
            </a:pPr>
            <a:r>
              <a:t>      –  Gives sd[τ(X)] ≥ 0.079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Against 0.079 benchmark: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S (0.012), CF (0.022) under-disperse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T (0.062), R (0.059) closest</a:t>
            </a:r>
          </a:p>
          <a:p>
            <a:pPr>
              <a:lnSpc>
                <a:spcPct val="135000"/>
              </a:lnSpc>
              <a:defRPr sz="1300">
                <a:solidFill>
                  <a:srgbClr val="555555"/>
                </a:solidFill>
              </a:defRPr>
            </a:pPr>
            <a:r>
              <a:t>      –  DR (0.168) over-disperses — mostly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All five agree on the mean. Spreads disagree wildly.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True ITE sd of 0.32 is mechanical (each ITE ∈ {−1, 0, +1}) — compare to 0.079 lower bound, not raw ITE 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CATE Ranking vs. Ground Truth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5943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PEHE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Spearman ρ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Kendall τ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S-learner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T-learner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0.318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DR-learner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0.029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R-learner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0.037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Causal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0.160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06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51560"/>
            <a:ext cx="42672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PEHE gap is small — binary outcomes are noisy (CF beats baseline by only 1.2%)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Rank correlation is the decision-relevant metric</a:t>
            </a:r>
          </a:p>
          <a:p>
            <a:pPr>
              <a:lnSpc>
                <a:spcPct val="135000"/>
              </a:lnSpc>
              <a:defRPr sz="1500" b="1">
                <a:solidFill>
                  <a:srgbClr val="C0392B"/>
                </a:solidFill>
              </a:defRPr>
            </a:pPr>
            <a:r>
              <a:t>•  CF Spearman ρ = 0.20 → ~2× T-learner, ~5× DR, ~10× S</a:t>
            </a:r>
          </a:p>
          <a:p>
            <a:pPr>
              <a:lnSpc>
                <a:spcPct val="135000"/>
              </a:lnSpc>
              <a:defRPr sz="1500">
                <a:solidFill>
                  <a:srgbClr val="1F2C44"/>
                </a:solidFill>
              </a:defRPr>
            </a:pPr>
            <a:r>
              <a:t>•  Calibration: nearly monotone, but slope &gt; 1 at extremes (honest-forest shrinkage)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Headline Finding: Subgroup Failure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AIPW GATE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Truth GATE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Q1 (shortest gestation)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6,681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−0.029  ← strongest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Q2 (middle gestation)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4,058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−0.018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Q3 (longest gestation)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1,245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−0.053  ← strongest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0896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AIPW says: monotone, effect triples from Q1 to Q3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Truth says: non-monotone, Q1 strongest, opposite ordering</a:t>
            </a:r>
          </a:p>
          <a:p>
            <a:pPr>
              <a:lnSpc>
                <a:spcPct val="135000"/>
              </a:lnSpc>
              <a:defRPr sz="1700" b="1">
                <a:solidFill>
                  <a:srgbClr val="C0392B"/>
                </a:solidFill>
              </a:defRPr>
            </a:pPr>
            <a:r>
              <a:t>•  Analyst with only AIPW would publish 'effect triples with longer gestation' — wrong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Likely cause: Q3 has only 1,245 pairs; AIPW SE in Q3 is ~3× the others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Not a generic AIPW failure: prenatal-care subgroups agree with truth (~−0.025 across all)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BLP Confirms the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>
                <a:solidFill>
                  <a:srgbClr val="1F2C44"/>
                </a:solidFill>
              </a:defRPr>
            </a:pPr>
            <a:r>
              <a:t>•  Regress AIPW pseudo-outcome AND true ITE on 8 clinical effect modifiers (HC3 SEs)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55448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AIPW coef [p]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Truth coef [p]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gestat10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−0.013  [ 0.025 ]   ← 'significant'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−0.0001  [ 0.964 ]   ← zero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chyper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+0.112  [ 0.130 ]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+0.044  [ 0.097 ]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preterm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−0.039  [ 0.369 ]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+0.031  [ 0.065 ]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others (5)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all p &gt; 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F2C44"/>
                          </a:solidFill>
                        </a:rPr>
                        <a:t>all p &gt; 0.4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48056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AIPW BLP looks defensible on its own — right framework, valid SEs, sub-0.05 p-value</a:t>
            </a:r>
          </a:p>
          <a:p>
            <a:pPr>
              <a:lnSpc>
                <a:spcPct val="135000"/>
              </a:lnSpc>
              <a:defRPr sz="1700">
                <a:solidFill>
                  <a:srgbClr val="1F2C44"/>
                </a:solidFill>
              </a:defRPr>
            </a:pPr>
            <a:r>
              <a:t>•  Truth BLP shows the finding is spurious</a:t>
            </a:r>
          </a:p>
          <a:p>
            <a:pPr>
              <a:lnSpc>
                <a:spcPct val="135000"/>
              </a:lnSpc>
              <a:defRPr sz="1700" b="1">
                <a:solidFill>
                  <a:srgbClr val="C0392B"/>
                </a:solidFill>
              </a:defRPr>
            </a:pPr>
            <a:r>
              <a:t>•  Nothing inside AIPW flags the false positive — only the external benchmark does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ATE Is Robust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DoWhy-style refutations: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Refuted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1F2C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Placebo (permute 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+0.0245  ✓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Random common 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−0.0252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−0.0003  ✓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80%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−0.0235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F2C44"/>
                          </a:solidFill>
                        </a:rPr>
                        <a:t>+0.0013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6576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>
                <a:solidFill>
                  <a:srgbClr val="1F2C44"/>
                </a:solidFill>
              </a:defRPr>
            </a:pPr>
            <a:r>
              <a:t>•  Sensitivity to a simulated unmeasured confounder U: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Simulate binary U with associations of strength k_T to T and k_Y to Y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Append U to X, recompute AIPW across a 5×5 grid</a:t>
            </a:r>
          </a:p>
          <a:p>
            <a:pPr>
              <a:lnSpc>
                <a:spcPct val="135000"/>
              </a:lnSpc>
              <a:defRPr sz="1400" b="1">
                <a:solidFill>
                  <a:srgbClr val="C0392B"/>
                </a:solidFill>
              </a:defRPr>
            </a:pPr>
            <a:r>
              <a:t>      –  All 25 cells stay negative (range −0.022 to −0.067)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No (k_T, k_Y) combination flips the sign of the 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>
                <a:solidFill>
                  <a:srgbClr val="1F2C44"/>
                </a:solidFill>
              </a:defRPr>
            </a:pPr>
            <a:r>
              <a:t>•  Limitations: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Simulated confounding — bias my methods correct depends on my assignment rule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Unobserved pair-level factors (placental position) not in X — sensitivity grid quantifies but can't remove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Rare outcome (P(Y=1) = 0.18) limits heterogeneity signal — drives DR over-dispersion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Generalizability — results apply only to same-sex twin pairs where both infants weigh under 2 kg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Treatment is a within-pair contrast, not a free-standing policy intervention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>
                <a:solidFill>
                  <a:srgbClr val="1F2C44"/>
                </a:solidFill>
              </a:defRPr>
            </a:pPr>
            <a:r>
              <a:t>•  Future work: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CV-tune CATE hyperparameters using held-out R-loss / DR-score MSE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Investigate the AIPW-vs-truth subgroup divergence — trim/stabilize subgroup propensities, compare against TMLE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Replicate on the real (non-simulated) assignment with a within-pair fixed-effects design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Policy learning — fit a policy tree on CATE outputs once subgroup stability is better understood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C44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 b="1">
                <a:solidFill>
                  <a:srgbClr val="C0392B"/>
                </a:solidFill>
              </a:defRPr>
            </a:pPr>
            <a:r>
              <a:t>•  ATE: heavier twin → ~2.4–2.5 pp lower one-year mortality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Stable across OR, AIPW, truth, refutations, sensitivity grid</a:t>
            </a:r>
          </a:p>
          <a:p>
            <a:pPr>
              <a:lnSpc>
                <a:spcPct val="135000"/>
              </a:lnSpc>
              <a:defRPr sz="1800">
                <a:solidFill>
                  <a:srgbClr val="1F2C44"/>
                </a:solidFill>
              </a:defRPr>
            </a:pPr>
            <a:r>
              <a:t>•  </a:t>
            </a:r>
          </a:p>
          <a:p>
            <a:pPr>
              <a:lnSpc>
                <a:spcPct val="135000"/>
              </a:lnSpc>
              <a:defRPr sz="1800" b="1">
                <a:solidFill>
                  <a:srgbClr val="C0392B"/>
                </a:solidFill>
              </a:defRPr>
            </a:pPr>
            <a:r>
              <a:t>•  CATE: causal forest ranks pairs well, but subgroup claims fail the benchmark</a:t>
            </a:r>
          </a:p>
          <a:p>
            <a:pPr>
              <a:lnSpc>
                <a:spcPct val="135000"/>
              </a:lnSpc>
              <a:defRPr sz="1600">
                <a:solidFill>
                  <a:srgbClr val="555555"/>
                </a:solidFill>
              </a:defRPr>
            </a:pPr>
            <a:r>
              <a:t>      –  gestat10 is 'significant' in AIPW BLP (p = 0.025), zero in truth (p = 0.96)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11247120" cy="1280160"/>
          </a:xfrm>
          <a:prstGeom prst="rect">
            <a:avLst/>
          </a:prstGeom>
          <a:solidFill>
            <a:srgbClr val="E8EDF3"/>
          </a:solidFill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Methodological lesson:</a:t>
            </a:r>
          </a:p>
          <a:p>
            <a:pPr>
              <a:defRPr sz="1700" b="1">
                <a:solidFill>
                  <a:srgbClr val="C0392B"/>
                </a:solidFill>
              </a:defRPr>
            </a:pPr>
            <a:r>
              <a:t>AIPW ATE and AIPW subgroup effects can be trustworthy and untrustworthy on the SAME dataset.</a:t>
            </a:r>
          </a:p>
          <a:p>
            <a:pPr>
              <a:defRPr sz="1700" b="1">
                <a:solidFill>
                  <a:srgbClr val="C0392B"/>
                </a:solidFill>
              </a:defRPr>
            </a:pPr>
            <a:r>
              <a:t>Nothing inside AIPW flags the failure — only an external benchmark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600">
                <a:solidFill>
                  <a:srgbClr val="1F2C44"/>
                </a:solidFill>
              </a:defRPr>
            </a:pPr>
            <a:r>
              <a:t>•  Recommended pipeline for similar studies: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ATE: AIPW + ≥1 auxiliary estimator (e.g. OR) for triangulation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CATE: causal forest + ≥1 orthogonalized meta-learner for cross-check</a:t>
            </a:r>
          </a:p>
          <a:p>
            <a:pPr>
              <a:lnSpc>
                <a:spcPct val="135000"/>
              </a:lnSpc>
              <a:defRPr sz="1400">
                <a:solidFill>
                  <a:srgbClr val="555555"/>
                </a:solidFill>
              </a:defRPr>
            </a:pPr>
            <a:r>
              <a:t>      –  Subgroups only with a design-based oracle OR subgroup propensity diagnostics + TMLE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